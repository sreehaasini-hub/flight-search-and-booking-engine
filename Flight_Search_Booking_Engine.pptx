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C0000"/>
          </a:solidFill>
          <a:ln w="12700">
            <a:solidFill>
              <a:srgbClr val="CC0000"/>
            </a:solidFill>
            <a:prstDash val="solid"/>
          </a:ln>
        </p:spPr>
      </p:sp>
      <p:pic>
        <p:nvPicPr>
          <p:cNvPr id="3" name="Image 0" descr="/home/claude/ppt/media/image1.jpg">    </p:cNvPr>
          <p:cNvPicPr>
            <a:picLocks noChangeAspect="1"/>
          </p:cNvPicPr>
          <p:nvPr/>
        </p:nvPicPr>
        <p:blipFill>
          <a:blip r:embed="rId1"/>
          <a:stretch>
            <a:fillRect/>
          </a:stretch>
        </p:blipFill>
        <p:spPr>
          <a:xfrm>
            <a:off x="3520440" y="137160"/>
            <a:ext cx="2103120" cy="685800"/>
          </a:xfrm>
          <a:prstGeom prst="rect">
            <a:avLst/>
          </a:prstGeom>
        </p:spPr>
      </p:pic>
      <p:sp>
        <p:nvSpPr>
          <p:cNvPr id="4" name="Text 1"/>
          <p:cNvSpPr/>
          <p:nvPr/>
        </p:nvSpPr>
        <p:spPr>
          <a:xfrm>
            <a:off x="0" y="960120"/>
            <a:ext cx="9144000" cy="274320"/>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A</a:t>
            </a:r>
            <a:endParaRPr lang="en-US" sz="1200" dirty="0"/>
          </a:p>
        </p:txBody>
      </p:sp>
      <p:sp>
        <p:nvSpPr>
          <p:cNvPr id="5" name="Text 2"/>
          <p:cNvSpPr/>
          <p:nvPr/>
        </p:nvSpPr>
        <p:spPr>
          <a:xfrm>
            <a:off x="0" y="1188720"/>
            <a:ext cx="9144000" cy="411480"/>
          </a:xfrm>
          <a:prstGeom prst="rect">
            <a:avLst/>
          </a:prstGeom>
          <a:noFill/>
          <a:ln/>
        </p:spPr>
        <p:txBody>
          <a:bodyPr wrap="square"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Project Review Meeting</a:t>
            </a:r>
            <a:endParaRPr lang="en-US" sz="2200" dirty="0"/>
          </a:p>
        </p:txBody>
      </p:sp>
      <p:sp>
        <p:nvSpPr>
          <p:cNvPr id="6" name="Text 3"/>
          <p:cNvSpPr/>
          <p:nvPr/>
        </p:nvSpPr>
        <p:spPr>
          <a:xfrm>
            <a:off x="0" y="1572768"/>
            <a:ext cx="9144000" cy="256032"/>
          </a:xfrm>
          <a:prstGeom prst="rect">
            <a:avLst/>
          </a:prstGeom>
          <a:noFill/>
          <a:ln/>
        </p:spPr>
        <p:txBody>
          <a:bodyPr wrap="square" rtlCol="0" anchor="ctr"/>
          <a:lstStyle/>
          <a:p>
            <a:pPr algn="ctr" indent="0" marL="0">
              <a:buNone/>
            </a:pPr>
            <a:r>
              <a:rPr lang="en-US" sz="1300" dirty="0">
                <a:solidFill>
                  <a:srgbClr val="1A1A1A"/>
                </a:solidFill>
                <a:latin typeface="Calibri" pitchFamily="34" charset="0"/>
                <a:ea typeface="Calibri" pitchFamily="34" charset="-122"/>
                <a:cs typeface="Calibri" pitchFamily="34" charset="-120"/>
              </a:rPr>
              <a:t>on</a:t>
            </a:r>
            <a:endParaRPr lang="en-US" sz="1300" dirty="0"/>
          </a:p>
        </p:txBody>
      </p:sp>
      <p:sp>
        <p:nvSpPr>
          <p:cNvPr id="7" name="Text 4"/>
          <p:cNvSpPr/>
          <p:nvPr/>
        </p:nvSpPr>
        <p:spPr>
          <a:xfrm>
            <a:off x="457200" y="1801368"/>
            <a:ext cx="8229600" cy="502920"/>
          </a:xfrm>
          <a:prstGeom prst="rect">
            <a:avLst/>
          </a:prstGeom>
          <a:noFill/>
          <a:ln/>
        </p:spPr>
        <p:txBody>
          <a:bodyPr wrap="square" rtlCol="0" anchor="ctr"/>
          <a:lstStyle/>
          <a:p>
            <a:pPr algn="ctr" indent="0" marL="0">
              <a:buNone/>
            </a:pPr>
            <a:r>
              <a:rPr lang="en-US" sz="2000" b="1" dirty="0">
                <a:solidFill>
                  <a:srgbClr val="1A1A1A"/>
                </a:solidFill>
                <a:latin typeface="Calibri" pitchFamily="34" charset="0"/>
                <a:ea typeface="Calibri" pitchFamily="34" charset="-122"/>
                <a:cs typeface="Calibri" pitchFamily="34" charset="-120"/>
              </a:rPr>
              <a:t>FLIGHT SEARCH AND BOOKING ENGINE</a:t>
            </a:r>
            <a:endParaRPr lang="en-US" sz="2000" dirty="0"/>
          </a:p>
        </p:txBody>
      </p:sp>
      <p:sp>
        <p:nvSpPr>
          <p:cNvPr id="8" name="Text 5"/>
          <p:cNvSpPr/>
          <p:nvPr/>
        </p:nvSpPr>
        <p:spPr>
          <a:xfrm>
            <a:off x="0" y="2395728"/>
            <a:ext cx="9144000" cy="256032"/>
          </a:xfrm>
          <a:prstGeom prst="rect">
            <a:avLst/>
          </a:prstGeom>
          <a:noFill/>
          <a:ln/>
        </p:spPr>
        <p:txBody>
          <a:bodyPr wrap="square"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By</a:t>
            </a:r>
            <a:endParaRPr lang="en-US" sz="1200" dirty="0"/>
          </a:p>
        </p:txBody>
      </p:sp>
      <p:sp>
        <p:nvSpPr>
          <p:cNvPr id="9" name="Text 6"/>
          <p:cNvSpPr/>
          <p:nvPr/>
        </p:nvSpPr>
        <p:spPr>
          <a:xfrm>
            <a:off x="1828800" y="2670048"/>
            <a:ext cx="5486400" cy="256032"/>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Sreehaasini. K</a:t>
            </a:r>
            <a:pPr indent="0" marL="0">
              <a:buNone/>
            </a:pPr>
            <a:r>
              <a:rPr lang="en-US" sz="1200" dirty="0">
                <a:solidFill>
                  <a:srgbClr val="1A1A1A"/>
                </a:solidFill>
                <a:latin typeface="Calibri" pitchFamily="34" charset="0"/>
                <a:ea typeface="Calibri" pitchFamily="34" charset="-122"/>
                <a:cs typeface="Calibri" pitchFamily="34" charset="-120"/>
              </a:rPr>
              <a:t>                        2520030491</a:t>
            </a:r>
            <a:endParaRPr lang="en-US" sz="1200" dirty="0"/>
          </a:p>
        </p:txBody>
      </p:sp>
      <p:sp>
        <p:nvSpPr>
          <p:cNvPr id="10" name="Text 7"/>
          <p:cNvSpPr/>
          <p:nvPr/>
        </p:nvSpPr>
        <p:spPr>
          <a:xfrm>
            <a:off x="1828800" y="2907792"/>
            <a:ext cx="5486400" cy="256032"/>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Alluri Eswari Kali Priya</a:t>
            </a:r>
            <a:pPr indent="0" marL="0">
              <a:buNone/>
            </a:pPr>
            <a:r>
              <a:rPr lang="en-US" sz="1200" dirty="0">
                <a:solidFill>
                  <a:srgbClr val="1A1A1A"/>
                </a:solidFill>
                <a:latin typeface="Calibri" pitchFamily="34" charset="0"/>
                <a:ea typeface="Calibri" pitchFamily="34" charset="-122"/>
                <a:cs typeface="Calibri" pitchFamily="34" charset="-120"/>
              </a:rPr>
              <a:t>           2520030492</a:t>
            </a:r>
            <a:endParaRPr lang="en-US" sz="1200" dirty="0"/>
          </a:p>
        </p:txBody>
      </p:sp>
      <p:sp>
        <p:nvSpPr>
          <p:cNvPr id="11" name="Text 8"/>
          <p:cNvSpPr/>
          <p:nvPr/>
        </p:nvSpPr>
        <p:spPr>
          <a:xfrm>
            <a:off x="0" y="3200400"/>
            <a:ext cx="9144000" cy="228600"/>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Team Number: 24</a:t>
            </a:r>
            <a:endParaRPr lang="en-US" sz="1100" dirty="0"/>
          </a:p>
        </p:txBody>
      </p:sp>
      <p:sp>
        <p:nvSpPr>
          <p:cNvPr id="12" name="Text 9"/>
          <p:cNvSpPr/>
          <p:nvPr/>
        </p:nvSpPr>
        <p:spPr>
          <a:xfrm>
            <a:off x="0" y="3456432"/>
            <a:ext cx="9144000" cy="201168"/>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Under the guidance of</a:t>
            </a:r>
            <a:endParaRPr lang="en-US" sz="1100" dirty="0"/>
          </a:p>
        </p:txBody>
      </p:sp>
      <p:sp>
        <p:nvSpPr>
          <p:cNvPr id="13" name="Text 10"/>
          <p:cNvSpPr/>
          <p:nvPr/>
        </p:nvSpPr>
        <p:spPr>
          <a:xfrm>
            <a:off x="0" y="3639312"/>
            <a:ext cx="9144000" cy="219456"/>
          </a:xfrm>
          <a:prstGeom prst="rect">
            <a:avLst/>
          </a:prstGeom>
          <a:noFill/>
          <a:ln/>
        </p:spPr>
        <p:txBody>
          <a:bodyPr wrap="square"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B Srinivas</a:t>
            </a:r>
            <a:endParaRPr lang="en-US" sz="1200" dirty="0"/>
          </a:p>
        </p:txBody>
      </p:sp>
      <p:sp>
        <p:nvSpPr>
          <p:cNvPr id="14" name="Text 11"/>
          <p:cNvSpPr/>
          <p:nvPr/>
        </p:nvSpPr>
        <p:spPr>
          <a:xfrm>
            <a:off x="0" y="3840480"/>
            <a:ext cx="9144000" cy="201168"/>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Associate Professor</a:t>
            </a:r>
            <a:endParaRPr lang="en-US" sz="1100" dirty="0"/>
          </a:p>
        </p:txBody>
      </p:sp>
      <p:sp>
        <p:nvSpPr>
          <p:cNvPr id="15" name="Text 12"/>
          <p:cNvSpPr/>
          <p:nvPr/>
        </p:nvSpPr>
        <p:spPr>
          <a:xfrm>
            <a:off x="0" y="4023360"/>
            <a:ext cx="9144000" cy="201168"/>
          </a:xfrm>
          <a:prstGeom prst="rect">
            <a:avLst/>
          </a:prstGeom>
          <a:noFill/>
          <a:ln/>
        </p:spPr>
        <p:txBody>
          <a:bodyPr wrap="square"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Department of Computer Science and Engineering</a:t>
            </a:r>
            <a:endParaRPr lang="en-US" sz="1100" dirty="0"/>
          </a:p>
        </p:txBody>
      </p:sp>
      <p:sp>
        <p:nvSpPr>
          <p:cNvPr id="16" name="Shape 13"/>
          <p:cNvSpPr/>
          <p:nvPr/>
        </p:nvSpPr>
        <p:spPr>
          <a:xfrm>
            <a:off x="0" y="4279392"/>
            <a:ext cx="9144000" cy="873252"/>
          </a:xfrm>
          <a:prstGeom prst="rect">
            <a:avLst/>
          </a:prstGeom>
          <a:solidFill>
            <a:srgbClr val="E8E8E8"/>
          </a:solidFill>
          <a:ln w="12700">
            <a:solidFill>
              <a:srgbClr val="E8E8E8"/>
            </a:solidFill>
            <a:prstDash val="solid"/>
          </a:ln>
        </p:spPr>
      </p:sp>
      <p:sp>
        <p:nvSpPr>
          <p:cNvPr id="17" name="Text 14"/>
          <p:cNvSpPr/>
          <p:nvPr/>
        </p:nvSpPr>
        <p:spPr>
          <a:xfrm>
            <a:off x="274320" y="4297680"/>
            <a:ext cx="8595360" cy="841248"/>
          </a:xfrm>
          <a:prstGeom prst="rect">
            <a:avLst/>
          </a:prstGeom>
          <a:noFill/>
          <a:ln/>
        </p:spPr>
        <p:txBody>
          <a:bodyPr wrap="square"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Koneru Lakshmaiah Education Foundation
</a:t>
            </a:r>
            <a:pPr indent="0" marL="0">
              <a:buNone/>
            </a:pPr>
            <a:r>
              <a:rPr lang="en-US" sz="900" dirty="0">
                <a:solidFill>
                  <a:srgbClr val="1A1A1A"/>
                </a:solidFill>
                <a:latin typeface="Calibri" pitchFamily="34" charset="0"/>
                <a:ea typeface="Calibri" pitchFamily="34" charset="-122"/>
                <a:cs typeface="Calibri" pitchFamily="34" charset="-120"/>
              </a:rPr>
              <a:t>(Deemed to be University estd. u/s. 3 of the UGC Act, 1956)
</a:t>
            </a:r>
            <a:pPr indent="0" marL="0">
              <a:buNone/>
            </a:pPr>
            <a:r>
              <a:rPr lang="en-US" sz="800" dirty="0">
                <a:solidFill>
                  <a:srgbClr val="1A1A1A"/>
                </a:solidFill>
                <a:latin typeface="Calibri" pitchFamily="34" charset="0"/>
                <a:ea typeface="Calibri" pitchFamily="34" charset="-122"/>
                <a:cs typeface="Calibri" pitchFamily="34" charset="-120"/>
              </a:rPr>
              <a:t>Off-Campus: Bachupally-Gandimaisamma Road, Bowrampet, Hyderabad, Telangana - 500 043.
</a:t>
            </a:r>
            <a:pPr indent="0" marL="0">
              <a:buNone/>
            </a:pPr>
            <a:r>
              <a:rPr lang="en-US" sz="800" dirty="0">
                <a:solidFill>
                  <a:srgbClr val="1A1A1A"/>
                </a:solidFill>
                <a:latin typeface="Calibri" pitchFamily="34" charset="0"/>
                <a:ea typeface="Calibri" pitchFamily="34" charset="-122"/>
                <a:cs typeface="Calibri" pitchFamily="34" charset="-120"/>
              </a:rPr>
              <a:t>Phone No: 7815926816, www.klh.edu.in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Outline of the Presentation</a:t>
            </a:r>
            <a:endParaRPr lang="en-US" sz="2200" dirty="0"/>
          </a:p>
        </p:txBody>
      </p:sp>
      <p:sp>
        <p:nvSpPr>
          <p:cNvPr id="4" name="Text 1"/>
          <p:cNvSpPr/>
          <p:nvPr/>
        </p:nvSpPr>
        <p:spPr>
          <a:xfrm>
            <a:off x="914400" y="804672"/>
            <a:ext cx="7315200" cy="4114800"/>
          </a:xfrm>
          <a:prstGeom prst="rect">
            <a:avLst/>
          </a:prstGeom>
          <a:noFill/>
          <a:ln/>
        </p:spPr>
        <p:txBody>
          <a:bodyPr wrap="square" rtlCol="0" anchor="ctr"/>
          <a:lstStyle/>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Abstract</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Introduction</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Problem Statement</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Project Flow Diagram</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Objectives with Justification</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Modules [Frontend web pages]</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Expected Outcomes of the Proposed Work</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Conclusion</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References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Abstract</a:t>
            </a:r>
            <a:endParaRPr lang="en-US" sz="2200" dirty="0"/>
          </a:p>
        </p:txBody>
      </p:sp>
      <p:sp>
        <p:nvSpPr>
          <p:cNvPr id="4" name="Text 1"/>
          <p:cNvSpPr/>
          <p:nvPr/>
        </p:nvSpPr>
        <p:spPr>
          <a:xfrm>
            <a:off x="457200" y="822960"/>
            <a:ext cx="8229600" cy="4114800"/>
          </a:xfrm>
          <a:prstGeom prst="rect">
            <a:avLst/>
          </a:prstGeom>
          <a:noFill/>
          <a:ln/>
        </p:spPr>
        <p:txBody>
          <a:bodyPr wrap="square" rtlCol="0" anchor="ctr"/>
          <a:lstStyle/>
          <a:p>
            <a:pPr marL="342900" indent="-342900">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Flight Search and Booking Engine is a web-based travel platform developed to simplify the process of searching, comparing, and booking flights. The system enables users to search for available flights, compare fares, select preferred seats, and complete bookings securely online.</a:t>
            </a:r>
            <a:endParaRPr lang="en-US" sz="1200" dirty="0"/>
          </a:p>
          <a:p>
            <a:pPr marL="342900" indent="-342900">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It supports both one-way and round-trip search, provides real-time availability updates, and allows users to manage their bookings through a personalized dashboard.</a:t>
            </a:r>
            <a:endParaRPr lang="en-US" sz="1200" dirty="0"/>
          </a:p>
          <a:p>
            <a:pPr marL="342900" indent="-342900">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By replacing traditional travel agency methods with a digital self-service platform, the system improves user convenience, reduces booking time, and offers transparency in pricing and availability.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Introduction</a:t>
            </a:r>
            <a:endParaRPr lang="en-US" sz="2200" dirty="0"/>
          </a:p>
        </p:txBody>
      </p:sp>
      <p:sp>
        <p:nvSpPr>
          <p:cNvPr id="4" name="Text 1"/>
          <p:cNvSpPr/>
          <p:nvPr/>
        </p:nvSpPr>
        <p:spPr>
          <a:xfrm>
            <a:off x="457200" y="822960"/>
            <a:ext cx="8229600" cy="4114800"/>
          </a:xfrm>
          <a:prstGeom prst="rect">
            <a:avLst/>
          </a:prstGeom>
          <a:noFill/>
          <a:ln/>
        </p:spPr>
        <p:txBody>
          <a:bodyPr wrap="square" rtlCol="0" anchor="ctr"/>
          <a:lstStyle/>
          <a:p>
            <a:pPr indent="0" marL="0">
              <a:spcAft>
                <a:spcPts val="1000"/>
              </a:spcAft>
              <a:buNone/>
            </a:pPr>
            <a:r>
              <a:rPr lang="en-US" sz="1200" dirty="0">
                <a:solidFill>
                  <a:srgbClr val="333333"/>
                </a:solidFill>
                <a:latin typeface="Calibri" pitchFamily="34" charset="0"/>
                <a:ea typeface="Calibri" pitchFamily="34" charset="-122"/>
                <a:cs typeface="Calibri" pitchFamily="34" charset="-120"/>
              </a:rPr>
              <a:t>Air travel has become one of the most preferred modes of transportation globally. With millions of passengers booking flights every day, an efficient digital platform for flight search and booking is essential to meet growing demand.</a:t>
            </a:r>
            <a:endParaRPr lang="en-US" sz="1200" dirty="0"/>
          </a:p>
          <a:p>
            <a:pPr indent="0" marL="0">
              <a:spcAft>
                <a:spcPts val="1000"/>
              </a:spcAft>
              <a:buNone/>
            </a:pPr>
            <a:r>
              <a:rPr lang="en-US" sz="1200" dirty="0">
                <a:solidFill>
                  <a:srgbClr val="333333"/>
                </a:solidFill>
                <a:latin typeface="Calibri" pitchFamily="34" charset="0"/>
                <a:ea typeface="Calibri" pitchFamily="34" charset="-122"/>
                <a:cs typeface="Calibri" pitchFamily="34" charset="-120"/>
              </a:rPr>
              <a:t>Traditional flight booking methods through travel agents or phone calls are time-consuming, costly, and offer limited options. Travelers today expect instant search results, price comparison, and secure online payment.</a:t>
            </a:r>
            <a:endParaRPr lang="en-US" sz="1200" dirty="0"/>
          </a:p>
          <a:p>
            <a:pPr indent="0" marL="0">
              <a:spcAft>
                <a:spcPts val="1000"/>
              </a:spcAft>
              <a:buNone/>
            </a:pPr>
            <a:r>
              <a:rPr lang="en-US" sz="1200" dirty="0">
                <a:solidFill>
                  <a:srgbClr val="333333"/>
                </a:solidFill>
                <a:latin typeface="Calibri" pitchFamily="34" charset="0"/>
                <a:ea typeface="Calibri" pitchFamily="34" charset="-122"/>
                <a:cs typeface="Calibri" pitchFamily="34" charset="-120"/>
              </a:rPr>
              <a:t>The Flight Search and Booking Engine provides a user-friendly web platform that aggregates flight data, enables real-time search, facilitates secure booking, and offers itinerary management features — all in one integrated system.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Problem Statement</a:t>
            </a:r>
            <a:endParaRPr lang="en-US" sz="2200" dirty="0"/>
          </a:p>
        </p:txBody>
      </p:sp>
      <p:sp>
        <p:nvSpPr>
          <p:cNvPr id="4" name="Text 1"/>
          <p:cNvSpPr/>
          <p:nvPr/>
        </p:nvSpPr>
        <p:spPr>
          <a:xfrm>
            <a:off x="457200" y="777240"/>
            <a:ext cx="8229600" cy="36576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Travelers face significant challenges in searching and booking flights due to:</a:t>
            </a:r>
            <a:endParaRPr lang="en-US" sz="1200" dirty="0"/>
          </a:p>
        </p:txBody>
      </p:sp>
      <p:sp>
        <p:nvSpPr>
          <p:cNvPr id="5" name="Text 2"/>
          <p:cNvSpPr/>
          <p:nvPr/>
        </p:nvSpPr>
        <p:spPr>
          <a:xfrm>
            <a:off x="548640" y="1207008"/>
            <a:ext cx="8046720" cy="2468880"/>
          </a:xfrm>
          <a:prstGeom prst="rect">
            <a:avLst/>
          </a:prstGeom>
          <a:noFill/>
          <a:ln/>
        </p:spPr>
        <p:txBody>
          <a:bodyPr wrap="square" rtlCol="0" anchor="ctr"/>
          <a:lstStyle/>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Lack of a centralized platform to compare multiple airline prices</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Manual and time-consuming booking processes via travel agents</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Difficulty tracking real-time seat availability</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Absence of transparent fee and fare breakdowns</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Complicated cancellation and rescheduling procedures</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Risk of overbooking and payment security issues</a:t>
            </a:r>
            <a:endParaRPr lang="en-US" sz="1200" dirty="0"/>
          </a:p>
        </p:txBody>
      </p:sp>
      <p:sp>
        <p:nvSpPr>
          <p:cNvPr id="6" name="Text 3"/>
          <p:cNvSpPr/>
          <p:nvPr/>
        </p:nvSpPr>
        <p:spPr>
          <a:xfrm>
            <a:off x="457200" y="3749040"/>
            <a:ext cx="8229600" cy="73152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These challenges lead to increased travel costs, poor user experience, and missed booking opportunities. A digital flight search and booking platform is required to provide real-time availability, pricing transparency, and seamless booking.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Project Flow Diagram</a:t>
            </a:r>
            <a:endParaRPr lang="en-US" sz="2200" dirty="0"/>
          </a:p>
        </p:txBody>
      </p:sp>
      <p:sp>
        <p:nvSpPr>
          <p:cNvPr id="4" name="Shape 1"/>
          <p:cNvSpPr/>
          <p:nvPr/>
        </p:nvSpPr>
        <p:spPr>
          <a:xfrm>
            <a:off x="274320" y="749808"/>
            <a:ext cx="1554480" cy="384048"/>
          </a:xfrm>
          <a:prstGeom prst="roundRect">
            <a:avLst>
              <a:gd name="adj" fmla="val 19048"/>
            </a:avLst>
          </a:prstGeom>
          <a:solidFill>
            <a:srgbClr val="1F3864"/>
          </a:solidFill>
          <a:ln w="12700">
            <a:solidFill>
              <a:srgbClr val="1F3864"/>
            </a:solidFill>
            <a:prstDash val="solid"/>
          </a:ln>
        </p:spPr>
      </p:sp>
      <p:sp>
        <p:nvSpPr>
          <p:cNvPr id="5" name="Text 2"/>
          <p:cNvSpPr/>
          <p:nvPr/>
        </p:nvSpPr>
        <p:spPr>
          <a:xfrm>
            <a:off x="274320" y="74980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User / Guest</a:t>
            </a:r>
            <a:endParaRPr lang="en-US" sz="900" dirty="0"/>
          </a:p>
        </p:txBody>
      </p:sp>
      <p:sp>
        <p:nvSpPr>
          <p:cNvPr id="6" name="Shape 3"/>
          <p:cNvSpPr/>
          <p:nvPr/>
        </p:nvSpPr>
        <p:spPr>
          <a:xfrm>
            <a:off x="1051560" y="1133856"/>
            <a:ext cx="0" cy="210312"/>
          </a:xfrm>
          <a:prstGeom prst="line">
            <a:avLst/>
          </a:prstGeom>
          <a:noFill/>
          <a:ln w="15240">
            <a:solidFill>
              <a:srgbClr val="555555"/>
            </a:solidFill>
            <a:prstDash val="solid"/>
          </a:ln>
        </p:spPr>
      </p:sp>
      <p:sp>
        <p:nvSpPr>
          <p:cNvPr id="7" name="Text 4"/>
          <p:cNvSpPr/>
          <p:nvPr/>
        </p:nvSpPr>
        <p:spPr>
          <a:xfrm>
            <a:off x="941832" y="116128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8" name="Shape 5"/>
          <p:cNvSpPr/>
          <p:nvPr/>
        </p:nvSpPr>
        <p:spPr>
          <a:xfrm>
            <a:off x="274320" y="1344168"/>
            <a:ext cx="1554480" cy="384048"/>
          </a:xfrm>
          <a:prstGeom prst="roundRect">
            <a:avLst>
              <a:gd name="adj" fmla="val 19048"/>
            </a:avLst>
          </a:prstGeom>
          <a:solidFill>
            <a:srgbClr val="2E75B6"/>
          </a:solidFill>
          <a:ln w="12700">
            <a:solidFill>
              <a:srgbClr val="2E75B6"/>
            </a:solidFill>
            <a:prstDash val="solid"/>
          </a:ln>
        </p:spPr>
      </p:sp>
      <p:sp>
        <p:nvSpPr>
          <p:cNvPr id="9" name="Text 6"/>
          <p:cNvSpPr/>
          <p:nvPr/>
        </p:nvSpPr>
        <p:spPr>
          <a:xfrm>
            <a:off x="274320" y="134416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Search Flights</a:t>
            </a:r>
            <a:endParaRPr lang="en-US" sz="900" dirty="0"/>
          </a:p>
        </p:txBody>
      </p:sp>
      <p:sp>
        <p:nvSpPr>
          <p:cNvPr id="10" name="Shape 7"/>
          <p:cNvSpPr/>
          <p:nvPr/>
        </p:nvSpPr>
        <p:spPr>
          <a:xfrm>
            <a:off x="1051560" y="1728216"/>
            <a:ext cx="0" cy="210312"/>
          </a:xfrm>
          <a:prstGeom prst="line">
            <a:avLst/>
          </a:prstGeom>
          <a:noFill/>
          <a:ln w="15240">
            <a:solidFill>
              <a:srgbClr val="555555"/>
            </a:solidFill>
            <a:prstDash val="solid"/>
          </a:ln>
        </p:spPr>
      </p:sp>
      <p:sp>
        <p:nvSpPr>
          <p:cNvPr id="11" name="Text 8"/>
          <p:cNvSpPr/>
          <p:nvPr/>
        </p:nvSpPr>
        <p:spPr>
          <a:xfrm>
            <a:off x="941832" y="175564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12" name="Shape 9"/>
          <p:cNvSpPr/>
          <p:nvPr/>
        </p:nvSpPr>
        <p:spPr>
          <a:xfrm>
            <a:off x="274320" y="1938528"/>
            <a:ext cx="1554480" cy="384048"/>
          </a:xfrm>
          <a:prstGeom prst="roundRect">
            <a:avLst>
              <a:gd name="adj" fmla="val 19048"/>
            </a:avLst>
          </a:prstGeom>
          <a:solidFill>
            <a:srgbClr val="2E75B6"/>
          </a:solidFill>
          <a:ln w="12700">
            <a:solidFill>
              <a:srgbClr val="2E75B6"/>
            </a:solidFill>
            <a:prstDash val="solid"/>
          </a:ln>
        </p:spPr>
      </p:sp>
      <p:sp>
        <p:nvSpPr>
          <p:cNvPr id="13" name="Text 10"/>
          <p:cNvSpPr/>
          <p:nvPr/>
        </p:nvSpPr>
        <p:spPr>
          <a:xfrm>
            <a:off x="274320" y="193852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View Results</a:t>
            </a:r>
            <a:endParaRPr lang="en-US" sz="900" dirty="0"/>
          </a:p>
        </p:txBody>
      </p:sp>
      <p:sp>
        <p:nvSpPr>
          <p:cNvPr id="14" name="Shape 11"/>
          <p:cNvSpPr/>
          <p:nvPr/>
        </p:nvSpPr>
        <p:spPr>
          <a:xfrm>
            <a:off x="1051560" y="2322576"/>
            <a:ext cx="0" cy="210312"/>
          </a:xfrm>
          <a:prstGeom prst="line">
            <a:avLst/>
          </a:prstGeom>
          <a:noFill/>
          <a:ln w="15240">
            <a:solidFill>
              <a:srgbClr val="555555"/>
            </a:solidFill>
            <a:prstDash val="solid"/>
          </a:ln>
        </p:spPr>
      </p:sp>
      <p:sp>
        <p:nvSpPr>
          <p:cNvPr id="15" name="Text 12"/>
          <p:cNvSpPr/>
          <p:nvPr/>
        </p:nvSpPr>
        <p:spPr>
          <a:xfrm>
            <a:off x="941832" y="235000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16" name="Shape 13"/>
          <p:cNvSpPr/>
          <p:nvPr/>
        </p:nvSpPr>
        <p:spPr>
          <a:xfrm>
            <a:off x="274320" y="2532888"/>
            <a:ext cx="1554480" cy="384048"/>
          </a:xfrm>
          <a:prstGeom prst="roundRect">
            <a:avLst>
              <a:gd name="adj" fmla="val 19048"/>
            </a:avLst>
          </a:prstGeom>
          <a:solidFill>
            <a:srgbClr val="2E75B6"/>
          </a:solidFill>
          <a:ln w="12700">
            <a:solidFill>
              <a:srgbClr val="2E75B6"/>
            </a:solidFill>
            <a:prstDash val="solid"/>
          </a:ln>
        </p:spPr>
      </p:sp>
      <p:sp>
        <p:nvSpPr>
          <p:cNvPr id="17" name="Text 14"/>
          <p:cNvSpPr/>
          <p:nvPr/>
        </p:nvSpPr>
        <p:spPr>
          <a:xfrm>
            <a:off x="274320" y="253288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Select Flight</a:t>
            </a:r>
            <a:endParaRPr lang="en-US" sz="900" dirty="0"/>
          </a:p>
        </p:txBody>
      </p:sp>
      <p:sp>
        <p:nvSpPr>
          <p:cNvPr id="18" name="Shape 15"/>
          <p:cNvSpPr/>
          <p:nvPr/>
        </p:nvSpPr>
        <p:spPr>
          <a:xfrm>
            <a:off x="1051560" y="2916936"/>
            <a:ext cx="0" cy="210312"/>
          </a:xfrm>
          <a:prstGeom prst="line">
            <a:avLst/>
          </a:prstGeom>
          <a:noFill/>
          <a:ln w="15240">
            <a:solidFill>
              <a:srgbClr val="555555"/>
            </a:solidFill>
            <a:prstDash val="solid"/>
          </a:ln>
        </p:spPr>
      </p:sp>
      <p:sp>
        <p:nvSpPr>
          <p:cNvPr id="19" name="Text 16"/>
          <p:cNvSpPr/>
          <p:nvPr/>
        </p:nvSpPr>
        <p:spPr>
          <a:xfrm>
            <a:off x="941832" y="294436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20" name="Shape 17"/>
          <p:cNvSpPr/>
          <p:nvPr/>
        </p:nvSpPr>
        <p:spPr>
          <a:xfrm>
            <a:off x="274320" y="3127248"/>
            <a:ext cx="1554480" cy="384048"/>
          </a:xfrm>
          <a:prstGeom prst="roundRect">
            <a:avLst>
              <a:gd name="adj" fmla="val 19048"/>
            </a:avLst>
          </a:prstGeom>
          <a:solidFill>
            <a:srgbClr val="2E75B6"/>
          </a:solidFill>
          <a:ln w="12700">
            <a:solidFill>
              <a:srgbClr val="2E75B6"/>
            </a:solidFill>
            <a:prstDash val="solid"/>
          </a:ln>
        </p:spPr>
      </p:sp>
      <p:sp>
        <p:nvSpPr>
          <p:cNvPr id="21" name="Text 18"/>
          <p:cNvSpPr/>
          <p:nvPr/>
        </p:nvSpPr>
        <p:spPr>
          <a:xfrm>
            <a:off x="274320" y="312724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Passenger Details</a:t>
            </a:r>
            <a:endParaRPr lang="en-US" sz="900" dirty="0"/>
          </a:p>
        </p:txBody>
      </p:sp>
      <p:sp>
        <p:nvSpPr>
          <p:cNvPr id="22" name="Shape 19"/>
          <p:cNvSpPr/>
          <p:nvPr/>
        </p:nvSpPr>
        <p:spPr>
          <a:xfrm>
            <a:off x="1051560" y="3511296"/>
            <a:ext cx="0" cy="210312"/>
          </a:xfrm>
          <a:prstGeom prst="line">
            <a:avLst/>
          </a:prstGeom>
          <a:noFill/>
          <a:ln w="15240">
            <a:solidFill>
              <a:srgbClr val="555555"/>
            </a:solidFill>
            <a:prstDash val="solid"/>
          </a:ln>
        </p:spPr>
      </p:sp>
      <p:sp>
        <p:nvSpPr>
          <p:cNvPr id="23" name="Text 20"/>
          <p:cNvSpPr/>
          <p:nvPr/>
        </p:nvSpPr>
        <p:spPr>
          <a:xfrm>
            <a:off x="941832" y="353872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24" name="Shape 21"/>
          <p:cNvSpPr/>
          <p:nvPr/>
        </p:nvSpPr>
        <p:spPr>
          <a:xfrm>
            <a:off x="274320" y="3721608"/>
            <a:ext cx="1554480" cy="384048"/>
          </a:xfrm>
          <a:prstGeom prst="roundRect">
            <a:avLst>
              <a:gd name="adj" fmla="val 19048"/>
            </a:avLst>
          </a:prstGeom>
          <a:solidFill>
            <a:srgbClr val="CC0000"/>
          </a:solidFill>
          <a:ln w="12700">
            <a:solidFill>
              <a:srgbClr val="CC0000"/>
            </a:solidFill>
            <a:prstDash val="solid"/>
          </a:ln>
        </p:spPr>
      </p:sp>
      <p:sp>
        <p:nvSpPr>
          <p:cNvPr id="25" name="Text 22"/>
          <p:cNvSpPr/>
          <p:nvPr/>
        </p:nvSpPr>
        <p:spPr>
          <a:xfrm>
            <a:off x="274320" y="372160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Payment Gateway</a:t>
            </a:r>
            <a:endParaRPr lang="en-US" sz="900" dirty="0"/>
          </a:p>
        </p:txBody>
      </p:sp>
      <p:sp>
        <p:nvSpPr>
          <p:cNvPr id="26" name="Shape 23"/>
          <p:cNvSpPr/>
          <p:nvPr/>
        </p:nvSpPr>
        <p:spPr>
          <a:xfrm>
            <a:off x="1051560" y="4105656"/>
            <a:ext cx="0" cy="210312"/>
          </a:xfrm>
          <a:prstGeom prst="line">
            <a:avLst/>
          </a:prstGeom>
          <a:noFill/>
          <a:ln w="15240">
            <a:solidFill>
              <a:srgbClr val="555555"/>
            </a:solidFill>
            <a:prstDash val="solid"/>
          </a:ln>
        </p:spPr>
      </p:sp>
      <p:sp>
        <p:nvSpPr>
          <p:cNvPr id="27" name="Text 24"/>
          <p:cNvSpPr/>
          <p:nvPr/>
        </p:nvSpPr>
        <p:spPr>
          <a:xfrm>
            <a:off x="941832" y="413308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28" name="Shape 25"/>
          <p:cNvSpPr/>
          <p:nvPr/>
        </p:nvSpPr>
        <p:spPr>
          <a:xfrm>
            <a:off x="274320" y="4315968"/>
            <a:ext cx="1554480" cy="384048"/>
          </a:xfrm>
          <a:prstGeom prst="roundRect">
            <a:avLst>
              <a:gd name="adj" fmla="val 19048"/>
            </a:avLst>
          </a:prstGeom>
          <a:solidFill>
            <a:srgbClr val="375623"/>
          </a:solidFill>
          <a:ln w="12700">
            <a:solidFill>
              <a:srgbClr val="375623"/>
            </a:solidFill>
            <a:prstDash val="solid"/>
          </a:ln>
        </p:spPr>
      </p:sp>
      <p:sp>
        <p:nvSpPr>
          <p:cNvPr id="29" name="Text 26"/>
          <p:cNvSpPr/>
          <p:nvPr/>
        </p:nvSpPr>
        <p:spPr>
          <a:xfrm>
            <a:off x="274320" y="431596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Booking Confirmed</a:t>
            </a:r>
            <a:endParaRPr lang="en-US" sz="900" dirty="0"/>
          </a:p>
        </p:txBody>
      </p:sp>
      <p:sp>
        <p:nvSpPr>
          <p:cNvPr id="30" name="Shape 27"/>
          <p:cNvSpPr/>
          <p:nvPr/>
        </p:nvSpPr>
        <p:spPr>
          <a:xfrm>
            <a:off x="3794760" y="749808"/>
            <a:ext cx="1554480" cy="384048"/>
          </a:xfrm>
          <a:prstGeom prst="roundRect">
            <a:avLst>
              <a:gd name="adj" fmla="val 19048"/>
            </a:avLst>
          </a:prstGeom>
          <a:solidFill>
            <a:srgbClr val="1F3864"/>
          </a:solidFill>
          <a:ln w="12700">
            <a:solidFill>
              <a:srgbClr val="1F3864"/>
            </a:solidFill>
            <a:prstDash val="solid"/>
          </a:ln>
        </p:spPr>
      </p:sp>
      <p:sp>
        <p:nvSpPr>
          <p:cNvPr id="31" name="Text 28"/>
          <p:cNvSpPr/>
          <p:nvPr/>
        </p:nvSpPr>
        <p:spPr>
          <a:xfrm>
            <a:off x="3794760" y="74980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Admin Panel</a:t>
            </a:r>
            <a:endParaRPr lang="en-US" sz="900" dirty="0"/>
          </a:p>
        </p:txBody>
      </p:sp>
      <p:sp>
        <p:nvSpPr>
          <p:cNvPr id="32" name="Shape 29"/>
          <p:cNvSpPr/>
          <p:nvPr/>
        </p:nvSpPr>
        <p:spPr>
          <a:xfrm>
            <a:off x="4572000" y="1133856"/>
            <a:ext cx="0" cy="210312"/>
          </a:xfrm>
          <a:prstGeom prst="line">
            <a:avLst/>
          </a:prstGeom>
          <a:noFill/>
          <a:ln w="15240">
            <a:solidFill>
              <a:srgbClr val="555555"/>
            </a:solidFill>
            <a:prstDash val="solid"/>
          </a:ln>
        </p:spPr>
      </p:sp>
      <p:sp>
        <p:nvSpPr>
          <p:cNvPr id="33" name="Text 30"/>
          <p:cNvSpPr/>
          <p:nvPr/>
        </p:nvSpPr>
        <p:spPr>
          <a:xfrm>
            <a:off x="4462272" y="116128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34" name="Shape 31"/>
          <p:cNvSpPr/>
          <p:nvPr/>
        </p:nvSpPr>
        <p:spPr>
          <a:xfrm>
            <a:off x="3794760" y="1344168"/>
            <a:ext cx="1554480" cy="384048"/>
          </a:xfrm>
          <a:prstGeom prst="roundRect">
            <a:avLst>
              <a:gd name="adj" fmla="val 19048"/>
            </a:avLst>
          </a:prstGeom>
          <a:solidFill>
            <a:srgbClr val="2E75B6"/>
          </a:solidFill>
          <a:ln w="12700">
            <a:solidFill>
              <a:srgbClr val="2E75B6"/>
            </a:solidFill>
            <a:prstDash val="solid"/>
          </a:ln>
        </p:spPr>
      </p:sp>
      <p:sp>
        <p:nvSpPr>
          <p:cNvPr id="35" name="Text 32"/>
          <p:cNvSpPr/>
          <p:nvPr/>
        </p:nvSpPr>
        <p:spPr>
          <a:xfrm>
            <a:off x="3794760" y="134416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 Flights</a:t>
            </a:r>
            <a:endParaRPr lang="en-US" sz="900" dirty="0"/>
          </a:p>
        </p:txBody>
      </p:sp>
      <p:sp>
        <p:nvSpPr>
          <p:cNvPr id="36" name="Shape 33"/>
          <p:cNvSpPr/>
          <p:nvPr/>
        </p:nvSpPr>
        <p:spPr>
          <a:xfrm>
            <a:off x="4572000" y="1728216"/>
            <a:ext cx="0" cy="210312"/>
          </a:xfrm>
          <a:prstGeom prst="line">
            <a:avLst/>
          </a:prstGeom>
          <a:noFill/>
          <a:ln w="15240">
            <a:solidFill>
              <a:srgbClr val="555555"/>
            </a:solidFill>
            <a:prstDash val="solid"/>
          </a:ln>
        </p:spPr>
      </p:sp>
      <p:sp>
        <p:nvSpPr>
          <p:cNvPr id="37" name="Text 34"/>
          <p:cNvSpPr/>
          <p:nvPr/>
        </p:nvSpPr>
        <p:spPr>
          <a:xfrm>
            <a:off x="4462272" y="175564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38" name="Shape 35"/>
          <p:cNvSpPr/>
          <p:nvPr/>
        </p:nvSpPr>
        <p:spPr>
          <a:xfrm>
            <a:off x="3794760" y="1938528"/>
            <a:ext cx="1554480" cy="384048"/>
          </a:xfrm>
          <a:prstGeom prst="roundRect">
            <a:avLst>
              <a:gd name="adj" fmla="val 19048"/>
            </a:avLst>
          </a:prstGeom>
          <a:solidFill>
            <a:srgbClr val="2E75B6"/>
          </a:solidFill>
          <a:ln w="12700">
            <a:solidFill>
              <a:srgbClr val="2E75B6"/>
            </a:solidFill>
            <a:prstDash val="solid"/>
          </a:ln>
        </p:spPr>
      </p:sp>
      <p:sp>
        <p:nvSpPr>
          <p:cNvPr id="39" name="Text 36"/>
          <p:cNvSpPr/>
          <p:nvPr/>
        </p:nvSpPr>
        <p:spPr>
          <a:xfrm>
            <a:off x="3794760" y="193852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Seat Inventory</a:t>
            </a:r>
            <a:endParaRPr lang="en-US" sz="900" dirty="0"/>
          </a:p>
        </p:txBody>
      </p:sp>
      <p:sp>
        <p:nvSpPr>
          <p:cNvPr id="40" name="Shape 37"/>
          <p:cNvSpPr/>
          <p:nvPr/>
        </p:nvSpPr>
        <p:spPr>
          <a:xfrm>
            <a:off x="4572000" y="2322576"/>
            <a:ext cx="0" cy="210312"/>
          </a:xfrm>
          <a:prstGeom prst="line">
            <a:avLst/>
          </a:prstGeom>
          <a:noFill/>
          <a:ln w="15240">
            <a:solidFill>
              <a:srgbClr val="555555"/>
            </a:solidFill>
            <a:prstDash val="solid"/>
          </a:ln>
        </p:spPr>
      </p:sp>
      <p:sp>
        <p:nvSpPr>
          <p:cNvPr id="41" name="Text 38"/>
          <p:cNvSpPr/>
          <p:nvPr/>
        </p:nvSpPr>
        <p:spPr>
          <a:xfrm>
            <a:off x="4462272" y="235000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42" name="Shape 39"/>
          <p:cNvSpPr/>
          <p:nvPr/>
        </p:nvSpPr>
        <p:spPr>
          <a:xfrm>
            <a:off x="3794760" y="2532888"/>
            <a:ext cx="1554480" cy="384048"/>
          </a:xfrm>
          <a:prstGeom prst="roundRect">
            <a:avLst>
              <a:gd name="adj" fmla="val 19048"/>
            </a:avLst>
          </a:prstGeom>
          <a:solidFill>
            <a:srgbClr val="2E75B6"/>
          </a:solidFill>
          <a:ln w="12700">
            <a:solidFill>
              <a:srgbClr val="2E75B6"/>
            </a:solidFill>
            <a:prstDash val="solid"/>
          </a:ln>
        </p:spPr>
      </p:sp>
      <p:sp>
        <p:nvSpPr>
          <p:cNvPr id="43" name="Text 40"/>
          <p:cNvSpPr/>
          <p:nvPr/>
        </p:nvSpPr>
        <p:spPr>
          <a:xfrm>
            <a:off x="3794760" y="253288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Booking Records</a:t>
            </a:r>
            <a:endParaRPr lang="en-US" sz="900" dirty="0"/>
          </a:p>
        </p:txBody>
      </p:sp>
      <p:sp>
        <p:nvSpPr>
          <p:cNvPr id="44" name="Shape 41"/>
          <p:cNvSpPr/>
          <p:nvPr/>
        </p:nvSpPr>
        <p:spPr>
          <a:xfrm>
            <a:off x="4572000" y="2916936"/>
            <a:ext cx="0" cy="210312"/>
          </a:xfrm>
          <a:prstGeom prst="line">
            <a:avLst/>
          </a:prstGeom>
          <a:noFill/>
          <a:ln w="15240">
            <a:solidFill>
              <a:srgbClr val="555555"/>
            </a:solidFill>
            <a:prstDash val="solid"/>
          </a:ln>
        </p:spPr>
      </p:sp>
      <p:sp>
        <p:nvSpPr>
          <p:cNvPr id="45" name="Text 42"/>
          <p:cNvSpPr/>
          <p:nvPr/>
        </p:nvSpPr>
        <p:spPr>
          <a:xfrm>
            <a:off x="4462272" y="294436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46" name="Shape 43"/>
          <p:cNvSpPr/>
          <p:nvPr/>
        </p:nvSpPr>
        <p:spPr>
          <a:xfrm>
            <a:off x="3794760" y="3127248"/>
            <a:ext cx="1554480" cy="384048"/>
          </a:xfrm>
          <a:prstGeom prst="roundRect">
            <a:avLst>
              <a:gd name="adj" fmla="val 19048"/>
            </a:avLst>
          </a:prstGeom>
          <a:solidFill>
            <a:srgbClr val="2E75B6"/>
          </a:solidFill>
          <a:ln w="12700">
            <a:solidFill>
              <a:srgbClr val="2E75B6"/>
            </a:solidFill>
            <a:prstDash val="solid"/>
          </a:ln>
        </p:spPr>
      </p:sp>
      <p:sp>
        <p:nvSpPr>
          <p:cNvPr id="47" name="Text 44"/>
          <p:cNvSpPr/>
          <p:nvPr/>
        </p:nvSpPr>
        <p:spPr>
          <a:xfrm>
            <a:off x="3794760" y="312724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Status Monitoring</a:t>
            </a:r>
            <a:endParaRPr lang="en-US" sz="900" dirty="0"/>
          </a:p>
        </p:txBody>
      </p:sp>
      <p:sp>
        <p:nvSpPr>
          <p:cNvPr id="48" name="Shape 45"/>
          <p:cNvSpPr/>
          <p:nvPr/>
        </p:nvSpPr>
        <p:spPr>
          <a:xfrm>
            <a:off x="4572000" y="3511296"/>
            <a:ext cx="0" cy="210312"/>
          </a:xfrm>
          <a:prstGeom prst="line">
            <a:avLst/>
          </a:prstGeom>
          <a:noFill/>
          <a:ln w="15240">
            <a:solidFill>
              <a:srgbClr val="555555"/>
            </a:solidFill>
            <a:prstDash val="solid"/>
          </a:ln>
        </p:spPr>
      </p:sp>
      <p:sp>
        <p:nvSpPr>
          <p:cNvPr id="49" name="Text 46"/>
          <p:cNvSpPr/>
          <p:nvPr/>
        </p:nvSpPr>
        <p:spPr>
          <a:xfrm>
            <a:off x="4462272" y="353872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50" name="Shape 47"/>
          <p:cNvSpPr/>
          <p:nvPr/>
        </p:nvSpPr>
        <p:spPr>
          <a:xfrm>
            <a:off x="3794760" y="3721608"/>
            <a:ext cx="1554480" cy="384048"/>
          </a:xfrm>
          <a:prstGeom prst="roundRect">
            <a:avLst>
              <a:gd name="adj" fmla="val 19048"/>
            </a:avLst>
          </a:prstGeom>
          <a:solidFill>
            <a:srgbClr val="2E75B6"/>
          </a:solidFill>
          <a:ln w="12700">
            <a:solidFill>
              <a:srgbClr val="2E75B6"/>
            </a:solidFill>
            <a:prstDash val="solid"/>
          </a:ln>
        </p:spPr>
      </p:sp>
      <p:sp>
        <p:nvSpPr>
          <p:cNvPr id="51" name="Text 48"/>
          <p:cNvSpPr/>
          <p:nvPr/>
        </p:nvSpPr>
        <p:spPr>
          <a:xfrm>
            <a:off x="3794760" y="372160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Reports &amp; Analytics</a:t>
            </a:r>
            <a:endParaRPr lang="en-US" sz="900" dirty="0"/>
          </a:p>
        </p:txBody>
      </p:sp>
      <p:sp>
        <p:nvSpPr>
          <p:cNvPr id="52" name="Shape 49"/>
          <p:cNvSpPr/>
          <p:nvPr/>
        </p:nvSpPr>
        <p:spPr>
          <a:xfrm>
            <a:off x="4572000" y="4105656"/>
            <a:ext cx="0" cy="210312"/>
          </a:xfrm>
          <a:prstGeom prst="line">
            <a:avLst/>
          </a:prstGeom>
          <a:noFill/>
          <a:ln w="15240">
            <a:solidFill>
              <a:srgbClr val="555555"/>
            </a:solidFill>
            <a:prstDash val="solid"/>
          </a:ln>
        </p:spPr>
      </p:sp>
      <p:sp>
        <p:nvSpPr>
          <p:cNvPr id="53" name="Text 50"/>
          <p:cNvSpPr/>
          <p:nvPr/>
        </p:nvSpPr>
        <p:spPr>
          <a:xfrm>
            <a:off x="4462272" y="4133088"/>
            <a:ext cx="219456"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a:t>
            </a:r>
            <a:endParaRPr lang="en-US" sz="800" dirty="0"/>
          </a:p>
        </p:txBody>
      </p:sp>
      <p:sp>
        <p:nvSpPr>
          <p:cNvPr id="54" name="Shape 51"/>
          <p:cNvSpPr/>
          <p:nvPr/>
        </p:nvSpPr>
        <p:spPr>
          <a:xfrm>
            <a:off x="3794760" y="4315968"/>
            <a:ext cx="1554480" cy="384048"/>
          </a:xfrm>
          <a:prstGeom prst="roundRect">
            <a:avLst>
              <a:gd name="adj" fmla="val 19048"/>
            </a:avLst>
          </a:prstGeom>
          <a:solidFill>
            <a:srgbClr val="7030A0"/>
          </a:solidFill>
          <a:ln w="12700">
            <a:solidFill>
              <a:srgbClr val="7030A0"/>
            </a:solidFill>
            <a:prstDash val="solid"/>
          </a:ln>
        </p:spPr>
      </p:sp>
      <p:sp>
        <p:nvSpPr>
          <p:cNvPr id="55" name="Text 52"/>
          <p:cNvSpPr/>
          <p:nvPr/>
        </p:nvSpPr>
        <p:spPr>
          <a:xfrm>
            <a:off x="3794760" y="431596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Future Scope</a:t>
            </a:r>
            <a:endParaRPr lang="en-US" sz="900" dirty="0"/>
          </a:p>
        </p:txBody>
      </p:sp>
      <p:sp>
        <p:nvSpPr>
          <p:cNvPr id="56" name="Shape 53"/>
          <p:cNvSpPr/>
          <p:nvPr/>
        </p:nvSpPr>
        <p:spPr>
          <a:xfrm>
            <a:off x="7132320" y="1344168"/>
            <a:ext cx="1554480" cy="384048"/>
          </a:xfrm>
          <a:prstGeom prst="roundRect">
            <a:avLst>
              <a:gd name="adj" fmla="val 19048"/>
            </a:avLst>
          </a:prstGeom>
          <a:solidFill>
            <a:srgbClr val="843C0C"/>
          </a:solidFill>
          <a:ln w="12700">
            <a:solidFill>
              <a:srgbClr val="843C0C"/>
            </a:solidFill>
            <a:prstDash val="solid"/>
          </a:ln>
        </p:spPr>
      </p:sp>
      <p:sp>
        <p:nvSpPr>
          <p:cNvPr id="57" name="Text 54"/>
          <p:cNvSpPr/>
          <p:nvPr/>
        </p:nvSpPr>
        <p:spPr>
          <a:xfrm>
            <a:off x="7132320" y="134416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Airline API</a:t>
            </a:r>
            <a:endParaRPr lang="en-US" sz="900" dirty="0"/>
          </a:p>
        </p:txBody>
      </p:sp>
      <p:sp>
        <p:nvSpPr>
          <p:cNvPr id="58" name="Shape 55"/>
          <p:cNvSpPr/>
          <p:nvPr/>
        </p:nvSpPr>
        <p:spPr>
          <a:xfrm>
            <a:off x="7132320" y="2532888"/>
            <a:ext cx="1554480" cy="384048"/>
          </a:xfrm>
          <a:prstGeom prst="roundRect">
            <a:avLst>
              <a:gd name="adj" fmla="val 19048"/>
            </a:avLst>
          </a:prstGeom>
          <a:solidFill>
            <a:srgbClr val="843C0C"/>
          </a:solidFill>
          <a:ln w="12700">
            <a:solidFill>
              <a:srgbClr val="843C0C"/>
            </a:solidFill>
            <a:prstDash val="solid"/>
          </a:ln>
        </p:spPr>
      </p:sp>
      <p:sp>
        <p:nvSpPr>
          <p:cNvPr id="59" name="Text 56"/>
          <p:cNvSpPr/>
          <p:nvPr/>
        </p:nvSpPr>
        <p:spPr>
          <a:xfrm>
            <a:off x="7132320" y="253288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Payment API</a:t>
            </a:r>
            <a:endParaRPr lang="en-US" sz="900" dirty="0"/>
          </a:p>
        </p:txBody>
      </p:sp>
      <p:sp>
        <p:nvSpPr>
          <p:cNvPr id="60" name="Shape 57"/>
          <p:cNvSpPr/>
          <p:nvPr/>
        </p:nvSpPr>
        <p:spPr>
          <a:xfrm>
            <a:off x="7132320" y="3721608"/>
            <a:ext cx="1554480" cy="384048"/>
          </a:xfrm>
          <a:prstGeom prst="roundRect">
            <a:avLst>
              <a:gd name="adj" fmla="val 19048"/>
            </a:avLst>
          </a:prstGeom>
          <a:solidFill>
            <a:srgbClr val="843C0C"/>
          </a:solidFill>
          <a:ln w="12700">
            <a:solidFill>
              <a:srgbClr val="843C0C"/>
            </a:solidFill>
            <a:prstDash val="solid"/>
          </a:ln>
        </p:spPr>
      </p:sp>
      <p:sp>
        <p:nvSpPr>
          <p:cNvPr id="61" name="Text 58"/>
          <p:cNvSpPr/>
          <p:nvPr/>
        </p:nvSpPr>
        <p:spPr>
          <a:xfrm>
            <a:off x="7132320" y="3721608"/>
            <a:ext cx="15544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Notification Svc</a:t>
            </a:r>
            <a:endParaRPr lang="en-US" sz="900" dirty="0"/>
          </a:p>
        </p:txBody>
      </p:sp>
      <p:sp>
        <p:nvSpPr>
          <p:cNvPr id="62" name="Text 59"/>
          <p:cNvSpPr/>
          <p:nvPr/>
        </p:nvSpPr>
        <p:spPr>
          <a:xfrm>
            <a:off x="274320" y="566928"/>
            <a:ext cx="1554480" cy="182880"/>
          </a:xfrm>
          <a:prstGeom prst="rect">
            <a:avLst/>
          </a:prstGeom>
          <a:noFill/>
          <a:ln/>
        </p:spPr>
        <p:txBody>
          <a:bodyPr wrap="square" rtlCol="0" anchor="ctr"/>
          <a:lstStyle/>
          <a:p>
            <a:pPr algn="ctr" indent="0" marL="0">
              <a:buNone/>
            </a:pPr>
            <a:r>
              <a:rPr lang="en-US" sz="800" b="1" dirty="0">
                <a:solidFill>
                  <a:srgbClr val="555555"/>
                </a:solidFill>
                <a:latin typeface="Calibri" pitchFamily="34" charset="0"/>
                <a:ea typeface="Calibri" pitchFamily="34" charset="-122"/>
                <a:cs typeface="Calibri" pitchFamily="34" charset="-120"/>
              </a:rPr>
              <a:t>User Flow</a:t>
            </a:r>
            <a:endParaRPr lang="en-US" sz="800" dirty="0"/>
          </a:p>
        </p:txBody>
      </p:sp>
      <p:sp>
        <p:nvSpPr>
          <p:cNvPr id="63" name="Text 60"/>
          <p:cNvSpPr/>
          <p:nvPr/>
        </p:nvSpPr>
        <p:spPr>
          <a:xfrm>
            <a:off x="3794760" y="566928"/>
            <a:ext cx="1554480" cy="182880"/>
          </a:xfrm>
          <a:prstGeom prst="rect">
            <a:avLst/>
          </a:prstGeom>
          <a:noFill/>
          <a:ln/>
        </p:spPr>
        <p:txBody>
          <a:bodyPr wrap="square" rtlCol="0" anchor="ctr"/>
          <a:lstStyle/>
          <a:p>
            <a:pPr algn="ctr" indent="0" marL="0">
              <a:buNone/>
            </a:pPr>
            <a:r>
              <a:rPr lang="en-US" sz="800" b="1" dirty="0">
                <a:solidFill>
                  <a:srgbClr val="555555"/>
                </a:solidFill>
                <a:latin typeface="Calibri" pitchFamily="34" charset="0"/>
                <a:ea typeface="Calibri" pitchFamily="34" charset="-122"/>
                <a:cs typeface="Calibri" pitchFamily="34" charset="-120"/>
              </a:rPr>
              <a:t>Admin Flow</a:t>
            </a:r>
            <a:endParaRPr lang="en-US" sz="800" dirty="0"/>
          </a:p>
        </p:txBody>
      </p:sp>
      <p:sp>
        <p:nvSpPr>
          <p:cNvPr id="64" name="Text 61"/>
          <p:cNvSpPr/>
          <p:nvPr/>
        </p:nvSpPr>
        <p:spPr>
          <a:xfrm>
            <a:off x="7132320" y="566928"/>
            <a:ext cx="1554480" cy="182880"/>
          </a:xfrm>
          <a:prstGeom prst="rect">
            <a:avLst/>
          </a:prstGeom>
          <a:noFill/>
          <a:ln/>
        </p:spPr>
        <p:txBody>
          <a:bodyPr wrap="square" rtlCol="0" anchor="ctr"/>
          <a:lstStyle/>
          <a:p>
            <a:pPr algn="ctr" indent="0" marL="0">
              <a:buNone/>
            </a:pPr>
            <a:r>
              <a:rPr lang="en-US" sz="800" b="1" dirty="0">
                <a:solidFill>
                  <a:srgbClr val="555555"/>
                </a:solidFill>
                <a:latin typeface="Calibri" pitchFamily="34" charset="0"/>
                <a:ea typeface="Calibri" pitchFamily="34" charset="-122"/>
                <a:cs typeface="Calibri" pitchFamily="34" charset="-120"/>
              </a:rPr>
              <a:t>External Services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Objectives with Justification</a:t>
            </a:r>
            <a:endParaRPr lang="en-US" sz="2200" dirty="0"/>
          </a:p>
        </p:txBody>
      </p:sp>
      <p:sp>
        <p:nvSpPr>
          <p:cNvPr id="4" name="Text 1"/>
          <p:cNvSpPr/>
          <p:nvPr/>
        </p:nvSpPr>
        <p:spPr>
          <a:xfrm>
            <a:off x="457200" y="777240"/>
            <a:ext cx="8229600" cy="256032"/>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Objectives:</a:t>
            </a:r>
            <a:endParaRPr lang="en-US" sz="1300" dirty="0"/>
          </a:p>
        </p:txBody>
      </p:sp>
      <p:sp>
        <p:nvSpPr>
          <p:cNvPr id="5" name="Text 2"/>
          <p:cNvSpPr/>
          <p:nvPr/>
        </p:nvSpPr>
        <p:spPr>
          <a:xfrm>
            <a:off x="548640" y="1078992"/>
            <a:ext cx="8046720" cy="2743200"/>
          </a:xfrm>
          <a:prstGeom prst="rect">
            <a:avLst/>
          </a:prstGeom>
          <a:noFill/>
          <a:ln/>
        </p:spPr>
        <p:txBody>
          <a:bodyPr wrap="square" rtlCol="0" anchor="ctr"/>
          <a:lstStyle/>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Enable real-time search for available flights across multiple airlines</a:t>
            </a:r>
            <a:endParaRPr lang="en-US" sz="1200" dirty="0"/>
          </a:p>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Provide price comparison and transparent fare breakdown</a:t>
            </a:r>
            <a:endParaRPr lang="en-US" sz="1200" dirty="0"/>
          </a:p>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Support one-way, round-trip, and multi-city booking options</a:t>
            </a:r>
            <a:endParaRPr lang="en-US" sz="1200" dirty="0"/>
          </a:p>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Facilitate secure payment processing and booking confirmation</a:t>
            </a:r>
            <a:endParaRPr lang="en-US" sz="1200" dirty="0"/>
          </a:p>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Allow users to manage, modify, and cancel bookings easily</a:t>
            </a:r>
            <a:endParaRPr lang="en-US" sz="1200" dirty="0"/>
          </a:p>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Generate booking reports and revenue analytics for admins</a:t>
            </a:r>
            <a:endParaRPr lang="en-US" sz="1200" dirty="0"/>
          </a:p>
          <a:p>
            <a:pPr marL="342900" indent="-342900">
              <a:spcAft>
                <a:spcPts val="300"/>
              </a:spcAft>
              <a:buSzPct val="100000"/>
              <a:buChar char="•"/>
            </a:pPr>
            <a:r>
              <a:rPr lang="en-US" sz="1200" dirty="0">
                <a:solidFill>
                  <a:srgbClr val="333333"/>
                </a:solidFill>
                <a:latin typeface="Calibri" pitchFamily="34" charset="0"/>
                <a:ea typeface="Calibri" pitchFamily="34" charset="-122"/>
                <a:cs typeface="Calibri" pitchFamily="34" charset="-120"/>
              </a:rPr>
              <a:t>Deliver email and SMS notifications for booking status updates</a:t>
            </a:r>
            <a:endParaRPr lang="en-US" sz="1200" dirty="0"/>
          </a:p>
        </p:txBody>
      </p:sp>
      <p:sp>
        <p:nvSpPr>
          <p:cNvPr id="6" name="Text 3"/>
          <p:cNvSpPr/>
          <p:nvPr/>
        </p:nvSpPr>
        <p:spPr>
          <a:xfrm>
            <a:off x="457200" y="3858768"/>
            <a:ext cx="8229600" cy="731520"/>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Justification: The proposed system offers a centralized digital platform that enhances traveler convenience, improves booking efficiency, reduces costs, and supports data-driven decision-making for airline and travel management.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Modules [Frontend web pages]</a:t>
            </a:r>
            <a:endParaRPr lang="en-US" sz="2200" dirty="0"/>
          </a:p>
        </p:txBody>
      </p:sp>
      <p:sp>
        <p:nvSpPr>
          <p:cNvPr id="4" name="Text 1"/>
          <p:cNvSpPr/>
          <p:nvPr/>
        </p:nvSpPr>
        <p:spPr>
          <a:xfrm>
            <a:off x="457200" y="822960"/>
            <a:ext cx="8229600" cy="4114800"/>
          </a:xfrm>
          <a:prstGeom prst="rect">
            <a:avLst/>
          </a:prstGeom>
          <a:noFill/>
          <a:ln/>
        </p:spPr>
        <p:txBody>
          <a:bodyPr wrap="square" rtlCol="0" anchor="ctr"/>
          <a:lstStyle/>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1. Home Page: Platform introduction, Popular destinations, Search widget</a:t>
            </a:r>
            <a:endParaRPr lang="en-US" sz="12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2. Flight Search: Origin/destination input, Date picker, Passenger count, Filters</a:t>
            </a:r>
            <a:endParaRPr lang="en-US" sz="12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3. Search Results: Available flights, Fare comparison, Sort and filter options</a:t>
            </a:r>
            <a:endParaRPr lang="en-US" sz="12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4. Booking Page: Passenger details, Seat selection, Fare summary, Payment</a:t>
            </a:r>
            <a:endParaRPr lang="en-US" sz="12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5. User Dashboard: My Bookings, Cancellation, Reschedule, Travel history</a:t>
            </a:r>
            <a:endParaRPr lang="en-US" sz="1250" dirty="0"/>
          </a:p>
          <a:p>
            <a:pPr indent="0" marL="0">
              <a:spcAft>
                <a:spcPts val="600"/>
              </a:spcAft>
              <a:buNone/>
            </a:pPr>
            <a:r>
              <a:rPr lang="en-US" sz="1250" dirty="0">
                <a:solidFill>
                  <a:srgbClr val="333333"/>
                </a:solidFill>
                <a:latin typeface="Calibri" pitchFamily="34" charset="0"/>
                <a:ea typeface="Calibri" pitchFamily="34" charset="-122"/>
                <a:cs typeface="Calibri" pitchFamily="34" charset="-120"/>
              </a:rPr>
              <a:t>6. Admin Panel: Flight management, Booking records, Analytics, User management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457200" y="201168"/>
            <a:ext cx="8229600" cy="457200"/>
          </a:xfrm>
          <a:prstGeom prst="rect">
            <a:avLst/>
          </a:prstGeom>
          <a:noFill/>
          <a:ln/>
        </p:spPr>
        <p:txBody>
          <a:bodyPr wrap="square" rtlCol="0" anchor="ctr"/>
          <a:lstStyle/>
          <a:p>
            <a:pPr algn="ctr" indent="0" marL="0">
              <a:buNone/>
            </a:pPr>
            <a:r>
              <a:rPr lang="en-US" sz="2000" b="1" dirty="0">
                <a:solidFill>
                  <a:srgbClr val="2E75B6"/>
                </a:solidFill>
                <a:latin typeface="Calibri" pitchFamily="34" charset="0"/>
                <a:ea typeface="Calibri" pitchFamily="34" charset="-122"/>
                <a:cs typeface="Calibri" pitchFamily="34" charset="-120"/>
              </a:rPr>
              <a:t>Expected Outcomes of the Proposed Work</a:t>
            </a:r>
            <a:endParaRPr lang="en-US" sz="2000" dirty="0"/>
          </a:p>
        </p:txBody>
      </p:sp>
      <p:sp>
        <p:nvSpPr>
          <p:cNvPr id="4" name="Text 1"/>
          <p:cNvSpPr/>
          <p:nvPr/>
        </p:nvSpPr>
        <p:spPr>
          <a:xfrm>
            <a:off x="457200" y="777240"/>
            <a:ext cx="8229600" cy="27432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proposed system is expected to:</a:t>
            </a:r>
            <a:endParaRPr lang="en-US" sz="1300" dirty="0"/>
          </a:p>
        </p:txBody>
      </p:sp>
      <p:sp>
        <p:nvSpPr>
          <p:cNvPr id="5" name="Text 2"/>
          <p:cNvSpPr/>
          <p:nvPr/>
        </p:nvSpPr>
        <p:spPr>
          <a:xfrm>
            <a:off x="548640" y="1115568"/>
            <a:ext cx="8046720" cy="3657600"/>
          </a:xfrm>
          <a:prstGeom prst="rect">
            <a:avLst/>
          </a:prstGeom>
          <a:noFill/>
          <a:ln/>
        </p:spPr>
        <p:txBody>
          <a:bodyPr wrap="square" rtlCol="0" anchor="ctr"/>
          <a:lstStyle/>
          <a:p>
            <a:pPr marL="342900" indent="-342900">
              <a:spcAft>
                <a:spcPts val="500"/>
              </a:spcAft>
              <a:buSzPct val="100000"/>
              <a:buChar char="•"/>
            </a:pPr>
            <a:r>
              <a:rPr lang="en-US" sz="1250" dirty="0">
                <a:solidFill>
                  <a:srgbClr val="333333"/>
                </a:solidFill>
                <a:latin typeface="Calibri" pitchFamily="34" charset="0"/>
                <a:ea typeface="Calibri" pitchFamily="34" charset="-122"/>
                <a:cs typeface="Calibri" pitchFamily="34" charset="-120"/>
              </a:rPr>
              <a:t>Provide a seamless flight search experience with real-time availability</a:t>
            </a:r>
            <a:endParaRPr lang="en-US" sz="1250" dirty="0"/>
          </a:p>
          <a:p>
            <a:pPr marL="342900" indent="-342900">
              <a:spcAft>
                <a:spcPts val="500"/>
              </a:spcAft>
              <a:buSzPct val="100000"/>
              <a:buChar char="•"/>
            </a:pPr>
            <a:r>
              <a:rPr lang="en-US" sz="1250" dirty="0">
                <a:solidFill>
                  <a:srgbClr val="333333"/>
                </a:solidFill>
                <a:latin typeface="Calibri" pitchFamily="34" charset="0"/>
                <a:ea typeface="Calibri" pitchFamily="34" charset="-122"/>
                <a:cs typeface="Calibri" pitchFamily="34" charset="-120"/>
              </a:rPr>
              <a:t>Reduce booking time significantly compared to traditional methods</a:t>
            </a:r>
            <a:endParaRPr lang="en-US" sz="1250" dirty="0"/>
          </a:p>
          <a:p>
            <a:pPr marL="342900" indent="-342900">
              <a:spcAft>
                <a:spcPts val="500"/>
              </a:spcAft>
              <a:buSzPct val="100000"/>
              <a:buChar char="•"/>
            </a:pPr>
            <a:r>
              <a:rPr lang="en-US" sz="1250" dirty="0">
                <a:solidFill>
                  <a:srgbClr val="333333"/>
                </a:solidFill>
                <a:latin typeface="Calibri" pitchFamily="34" charset="0"/>
                <a:ea typeface="Calibri" pitchFamily="34" charset="-122"/>
                <a:cs typeface="Calibri" pitchFamily="34" charset="-120"/>
              </a:rPr>
              <a:t>Enable transparent price comparison across multiple airlines</a:t>
            </a:r>
            <a:endParaRPr lang="en-US" sz="1250" dirty="0"/>
          </a:p>
          <a:p>
            <a:pPr marL="342900" indent="-342900">
              <a:spcAft>
                <a:spcPts val="500"/>
              </a:spcAft>
              <a:buSzPct val="100000"/>
              <a:buChar char="•"/>
            </a:pPr>
            <a:r>
              <a:rPr lang="en-US" sz="1250" dirty="0">
                <a:solidFill>
                  <a:srgbClr val="333333"/>
                </a:solidFill>
                <a:latin typeface="Calibri" pitchFamily="34" charset="0"/>
                <a:ea typeface="Calibri" pitchFamily="34" charset="-122"/>
                <a:cs typeface="Calibri" pitchFamily="34" charset="-120"/>
              </a:rPr>
              <a:t>Offer secure payment processing with booking confirmation</a:t>
            </a:r>
            <a:endParaRPr lang="en-US" sz="1250" dirty="0"/>
          </a:p>
          <a:p>
            <a:pPr marL="342900" indent="-342900">
              <a:spcAft>
                <a:spcPts val="500"/>
              </a:spcAft>
              <a:buSzPct val="100000"/>
              <a:buChar char="•"/>
            </a:pPr>
            <a:r>
              <a:rPr lang="en-US" sz="1250" dirty="0">
                <a:solidFill>
                  <a:srgbClr val="333333"/>
                </a:solidFill>
                <a:latin typeface="Calibri" pitchFamily="34" charset="0"/>
                <a:ea typeface="Calibri" pitchFamily="34" charset="-122"/>
                <a:cs typeface="Calibri" pitchFamily="34" charset="-120"/>
              </a:rPr>
              <a:t>Allow users to self-manage bookings, cancellations, and reschedules</a:t>
            </a:r>
            <a:endParaRPr lang="en-US" sz="1250" dirty="0"/>
          </a:p>
          <a:p>
            <a:pPr marL="342900" indent="-342900">
              <a:spcAft>
                <a:spcPts val="500"/>
              </a:spcAft>
              <a:buSzPct val="100000"/>
              <a:buChar char="•"/>
            </a:pPr>
            <a:r>
              <a:rPr lang="en-US" sz="1250" dirty="0">
                <a:solidFill>
                  <a:srgbClr val="333333"/>
                </a:solidFill>
                <a:latin typeface="Calibri" pitchFamily="34" charset="0"/>
                <a:ea typeface="Calibri" pitchFamily="34" charset="-122"/>
                <a:cs typeface="Calibri" pitchFamily="34" charset="-120"/>
              </a:rPr>
              <a:t>Generate accurate booking and revenue reports for administrators</a:t>
            </a:r>
            <a:endParaRPr lang="en-US" sz="1250" dirty="0"/>
          </a:p>
          <a:p>
            <a:pPr marL="342900" indent="-342900">
              <a:spcAft>
                <a:spcPts val="500"/>
              </a:spcAft>
              <a:buSzPct val="100000"/>
              <a:buChar char="•"/>
            </a:pPr>
            <a:r>
              <a:rPr lang="en-US" sz="1250" dirty="0">
                <a:solidFill>
                  <a:srgbClr val="333333"/>
                </a:solidFill>
                <a:latin typeface="Calibri" pitchFamily="34" charset="0"/>
                <a:ea typeface="Calibri" pitchFamily="34" charset="-122"/>
                <a:cs typeface="Calibri" pitchFamily="34" charset="-120"/>
              </a:rPr>
              <a:t>Support informed travel decisions through personalized recommendations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Conclusion and Future Scope</a:t>
            </a:r>
            <a:endParaRPr lang="en-US" sz="2200" dirty="0"/>
          </a:p>
        </p:txBody>
      </p:sp>
      <p:sp>
        <p:nvSpPr>
          <p:cNvPr id="4" name="Text 1"/>
          <p:cNvSpPr/>
          <p:nvPr/>
        </p:nvSpPr>
        <p:spPr>
          <a:xfrm>
            <a:off x="457200" y="777240"/>
            <a:ext cx="8229600" cy="256032"/>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Conclusion:</a:t>
            </a:r>
            <a:endParaRPr lang="en-US" sz="1300" dirty="0"/>
          </a:p>
        </p:txBody>
      </p:sp>
      <p:sp>
        <p:nvSpPr>
          <p:cNvPr id="5" name="Text 2"/>
          <p:cNvSpPr/>
          <p:nvPr/>
        </p:nvSpPr>
        <p:spPr>
          <a:xfrm>
            <a:off x="457200" y="1051560"/>
            <a:ext cx="8229600" cy="100584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The Flight Search and Booking Engine successfully demonstrates a comprehensive digital approach to managing flight bookings. It centralizes airline data, simplifies the search and reservation process, and provides a secure, user-friendly experience for travelers while offering powerful management tools for administrators.</a:t>
            </a:r>
            <a:endParaRPr lang="en-US" sz="1200" dirty="0"/>
          </a:p>
        </p:txBody>
      </p:sp>
      <p:sp>
        <p:nvSpPr>
          <p:cNvPr id="6" name="Text 3"/>
          <p:cNvSpPr/>
          <p:nvPr/>
        </p:nvSpPr>
        <p:spPr>
          <a:xfrm>
            <a:off x="457200" y="2176272"/>
            <a:ext cx="8229600" cy="256032"/>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Future Scope:</a:t>
            </a:r>
            <a:endParaRPr lang="en-US" sz="1300" dirty="0"/>
          </a:p>
        </p:txBody>
      </p:sp>
      <p:sp>
        <p:nvSpPr>
          <p:cNvPr id="7" name="Text 4"/>
          <p:cNvSpPr/>
          <p:nvPr/>
        </p:nvSpPr>
        <p:spPr>
          <a:xfrm>
            <a:off x="548640" y="2487168"/>
            <a:ext cx="8046720" cy="1097280"/>
          </a:xfrm>
          <a:prstGeom prst="rect">
            <a:avLst/>
          </a:prstGeom>
          <a:noFill/>
          <a:ln/>
        </p:spPr>
        <p:txBody>
          <a:bodyPr wrap="square" rtlCol="0" anchor="ctr"/>
          <a:lstStyle/>
          <a:p>
            <a:pPr marL="342900" indent="-342900">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AI-based Flight Price Prediction | Machine Learning Personalization | Dynamic Pricing Engine</a:t>
            </a:r>
            <a:endParaRPr lang="en-US" sz="1200" dirty="0"/>
          </a:p>
          <a:p>
            <a:pPr marL="342900" indent="-342900">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Mobile Application (Android &amp; iOS) | Multi-language &amp; Currency Support | Loyalty Program Integration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ppt/media/image1.jpg">    </p:cNvPr>
          <p:cNvPicPr>
            <a:picLocks noChangeAspect="1"/>
          </p:cNvPicPr>
          <p:nvPr/>
        </p:nvPicPr>
        <p:blipFill>
          <a:blip r:embed="rId1"/>
          <a:stretch>
            <a:fillRect/>
          </a:stretch>
        </p:blipFill>
        <p:spPr>
          <a:xfrm>
            <a:off x="137160" y="73152"/>
            <a:ext cx="1188720" cy="411480"/>
          </a:xfrm>
          <a:prstGeom prst="rect">
            <a:avLst/>
          </a:prstGeom>
        </p:spPr>
      </p:pic>
      <p:sp>
        <p:nvSpPr>
          <p:cNvPr id="3" name="Text 0"/>
          <p:cNvSpPr/>
          <p:nvPr/>
        </p:nvSpPr>
        <p:spPr>
          <a:xfrm>
            <a:off x="1371600" y="201168"/>
            <a:ext cx="6400800" cy="457200"/>
          </a:xfrm>
          <a:prstGeom prst="rect">
            <a:avLst/>
          </a:prstGeom>
          <a:noFill/>
          <a:ln/>
        </p:spPr>
        <p:txBody>
          <a:bodyPr wrap="square" rtlCol="0" anchor="ctr"/>
          <a:lstStyle/>
          <a:p>
            <a:pPr algn="ctr" indent="0" marL="0">
              <a:buNone/>
            </a:pPr>
            <a:r>
              <a:rPr lang="en-US" sz="2200" b="1" dirty="0">
                <a:solidFill>
                  <a:srgbClr val="2E75B6"/>
                </a:solidFill>
                <a:latin typeface="Calibri" pitchFamily="34" charset="0"/>
                <a:ea typeface="Calibri" pitchFamily="34" charset="-122"/>
                <a:cs typeface="Calibri" pitchFamily="34" charset="-120"/>
              </a:rPr>
              <a:t>References</a:t>
            </a:r>
            <a:endParaRPr lang="en-US" sz="2200" dirty="0"/>
          </a:p>
        </p:txBody>
      </p:sp>
      <p:sp>
        <p:nvSpPr>
          <p:cNvPr id="4" name="Text 1"/>
          <p:cNvSpPr/>
          <p:nvPr/>
        </p:nvSpPr>
        <p:spPr>
          <a:xfrm>
            <a:off x="457200" y="822960"/>
            <a:ext cx="8229600" cy="4023360"/>
          </a:xfrm>
          <a:prstGeom prst="rect">
            <a:avLst/>
          </a:prstGeom>
          <a:noFill/>
          <a:ln/>
        </p:spPr>
        <p:txBody>
          <a:bodyPr wrap="square" rtlCol="0" anchor="ctr"/>
          <a:lstStyle/>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1.  React.js Official Documentation</a:t>
            </a:r>
            <a:endParaRPr lang="en-US" sz="1250" dirty="0"/>
          </a:p>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2.  HTML5 Documentation</a:t>
            </a:r>
            <a:endParaRPr lang="en-US" sz="1250" dirty="0"/>
          </a:p>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3.  CSS3 Documentation</a:t>
            </a:r>
            <a:endParaRPr lang="en-US" sz="1250" dirty="0"/>
          </a:p>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4.  JavaScript Documentation</a:t>
            </a:r>
            <a:endParaRPr lang="en-US" sz="1250" dirty="0"/>
          </a:p>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5.  Node.js Documentation</a:t>
            </a:r>
            <a:endParaRPr lang="en-US" sz="1250" dirty="0"/>
          </a:p>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6.  IATA (International Air Transport Association) Booking Standards</a:t>
            </a:r>
            <a:endParaRPr lang="en-US" sz="1250" dirty="0"/>
          </a:p>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7.  Amadeus Flight Search API Documentation</a:t>
            </a:r>
            <a:endParaRPr lang="en-US" sz="1250" dirty="0"/>
          </a:p>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8.  Online Travel Agency (OTA) System Design Principles</a:t>
            </a:r>
            <a:endParaRPr lang="en-US" sz="1250" dirty="0"/>
          </a:p>
          <a:p>
            <a:pPr indent="0" marL="0">
              <a:spcAft>
                <a:spcPts val="500"/>
              </a:spcAft>
              <a:buNone/>
            </a:pPr>
            <a:r>
              <a:rPr lang="en-US" sz="1250" dirty="0">
                <a:solidFill>
                  <a:srgbClr val="333333"/>
                </a:solidFill>
                <a:latin typeface="Calibri" pitchFamily="34" charset="0"/>
                <a:ea typeface="Calibri" pitchFamily="34" charset="-122"/>
                <a:cs typeface="Calibri" pitchFamily="34" charset="-120"/>
              </a:rPr>
              <a:t>9.  Web Application Security Guidelines (OWASP)</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1828800"/>
            <a:ext cx="9144000" cy="1371600"/>
          </a:xfrm>
          <a:prstGeom prst="rect">
            <a:avLst/>
          </a:prstGeom>
          <a:noFill/>
          <a:ln/>
        </p:spPr>
        <p:txBody>
          <a:bodyPr wrap="square" rtlCol="0" anchor="ctr"/>
          <a:lstStyle/>
          <a:p>
            <a:pPr algn="ctr" indent="0" marL="0">
              <a:buNone/>
            </a:pPr>
            <a:r>
              <a:rPr lang="en-US" sz="5400" b="1" dirty="0">
                <a:solidFill>
                  <a:srgbClr val="1A1A1A"/>
                </a:solidFill>
                <a:latin typeface="Calibri" pitchFamily="34" charset="0"/>
                <a:ea typeface="Calibri" pitchFamily="34" charset="-122"/>
                <a:cs typeface="Calibri" pitchFamily="34" charset="-120"/>
              </a:rPr>
              <a:t>Thank you</a:t>
            </a:r>
            <a:endParaRPr lang="en-US" sz="5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Flight Search and Booking Engine</dc:title>
  <dc:subject>PptxGenJS Presentation</dc:subject>
  <dc:creator>PptxGenJS</dc:creator>
  <cp:lastModifiedBy>PptxGenJS</cp:lastModifiedBy>
  <cp:revision>1</cp:revision>
  <dcterms:created xsi:type="dcterms:W3CDTF">2026-06-19T03:46:49Z</dcterms:created>
  <dcterms:modified xsi:type="dcterms:W3CDTF">2026-06-19T03:46:49Z</dcterms:modified>
</cp:coreProperties>
</file>